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7462968" cy="21067776"/>
  <p:notesSz cx="21067776" cy="3746296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62968" cy="1828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0"/>
            <a:ext cx="37462968" cy="128016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tmp/bpl_poster/logos/bpl_system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20040"/>
            <a:ext cx="502920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0" y="201168"/>
            <a:ext cx="2468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BPL-LIBRAG: Natural Language Search over a 15-Year Digital Archive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852160" y="1051560"/>
            <a:ext cx="2468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 ·  Project Overview &amp; Results</a:t>
            </a:r>
            <a:endParaRPr lang="en-US" sz="2800" dirty="0"/>
          </a:p>
        </p:txBody>
      </p:sp>
      <p:pic>
        <p:nvPicPr>
          <p:cNvPr id="8" name="Image 1" descr="/tmp/bpl_poster/logos/bu_spark_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815280" y="274320"/>
            <a:ext cx="1371600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369760" y="2743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SPARK!</a:t>
            </a:r>
            <a:endParaRPr lang="en-US" sz="3600" dirty="0"/>
          </a:p>
        </p:txBody>
      </p:sp>
      <p:sp>
        <p:nvSpPr>
          <p:cNvPr id="10" name="Shape 6"/>
          <p:cNvSpPr/>
          <p:nvPr/>
        </p:nvSpPr>
        <p:spPr>
          <a:xfrm>
            <a:off x="365760" y="2286000"/>
            <a:ext cx="13350240" cy="987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65760" y="2286000"/>
            <a:ext cx="1335024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87168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2286000"/>
            <a:ext cx="1225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14" name="Text 9"/>
          <p:cNvSpPr/>
          <p:nvPr/>
        </p:nvSpPr>
        <p:spPr>
          <a:xfrm>
            <a:off x="731520" y="3429000"/>
            <a:ext cx="12618720" cy="859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The Boston Public Library has spent </a:t>
            </a:r>
            <a:pPr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A2342"/>
                </a:solidFill>
              </a:rPr>
              <a:t>15 years digitizing</a:t>
            </a:r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 historical photographs, newspapers, maps, and manuscripts via </a:t>
            </a:r>
            <a:pPr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A2342"/>
                </a:solidFill>
              </a:rPr>
              <a:t>Digital Commonwealth</a:t>
            </a:r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. Today, users can only search by rigid keyword tags.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D9621E"/>
                </a:solidFill>
              </a:rPr>
              <a:t>The Problem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If an item was never explicitly tagged with the right keyword, it can't be found — even if the answer is right there in the document text.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1F6E47"/>
                </a:solidFill>
              </a:rPr>
              <a:t>Our Goal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Build a natural-language search system that lets researchers, students, and the public ask plain-English questions and get back relevant historical documents with cited, source-grounded answers.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1E5BA8"/>
                </a:solidFill>
              </a:rPr>
              <a:t>What We Built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An end-to-end Hybrid + GraphRAG pipeline with cited GPT-4o answers, deployed as a multi-page Streamlit app on Hugging Face — see Page 2 for system architecture.</a:t>
            </a:r>
            <a:endParaRPr lang="en-US" sz="2800" dirty="0"/>
          </a:p>
        </p:txBody>
      </p:sp>
      <p:sp>
        <p:nvSpPr>
          <p:cNvPr id="15" name="Shape 10"/>
          <p:cNvSpPr/>
          <p:nvPr/>
        </p:nvSpPr>
        <p:spPr>
          <a:xfrm>
            <a:off x="14081760" y="2286000"/>
            <a:ext cx="23042880" cy="987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4081760" y="2286000"/>
            <a:ext cx="2304288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6080" y="2487168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41880" y="2286000"/>
            <a:ext cx="2194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200" dirty="0"/>
          </a:p>
        </p:txBody>
      </p:sp>
      <p:sp>
        <p:nvSpPr>
          <p:cNvPr id="19" name="Text 13"/>
          <p:cNvSpPr/>
          <p:nvPr/>
        </p:nvSpPr>
        <p:spPr>
          <a:xfrm>
            <a:off x="14447520" y="3337560"/>
            <a:ext cx="2231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performance vs. Fall 2025 keyword baseline  ·  n = 35 metadata queries from a held-out gold-standard set</a:t>
            </a:r>
            <a:endParaRPr lang="en-US" sz="2800" dirty="0"/>
          </a:p>
        </p:txBody>
      </p:sp>
      <p:pic>
        <p:nvPicPr>
          <p:cNvPr id="20" name="Image 4" descr="/tmp/bpl_poster/results_bar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4447520" y="3886200"/>
            <a:ext cx="22311360" cy="512064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14447520" y="9189720"/>
            <a:ext cx="7315200" cy="1874520"/>
          </a:xfrm>
          <a:prstGeom prst="rect">
            <a:avLst/>
          </a:prstGeom>
          <a:solidFill>
            <a:srgbClr val="FFFFFF"/>
          </a:solidFill>
          <a:ln w="31750">
            <a:solidFill>
              <a:srgbClr val="1F6E47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14447520" y="9189720"/>
            <a:ext cx="164592" cy="1874520"/>
          </a:xfrm>
          <a:prstGeom prst="rect">
            <a:avLst/>
          </a:prstGeom>
          <a:solidFill>
            <a:srgbClr val="1F6E47"/>
          </a:solidFill>
          <a:ln w="12700">
            <a:solidFill>
              <a:srgbClr val="1F6E47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14813280" y="9235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Hit@10</a:t>
            </a:r>
            <a:endParaRPr lang="en-US" sz="2800" dirty="0"/>
          </a:p>
        </p:txBody>
      </p:sp>
      <p:sp>
        <p:nvSpPr>
          <p:cNvPr id="24" name="Text 17"/>
          <p:cNvSpPr/>
          <p:nvPr/>
        </p:nvSpPr>
        <p:spPr>
          <a:xfrm>
            <a:off x="14813280" y="96926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55555"/>
                </a:solidFill>
              </a:rPr>
              <a:t>0.029</a:t>
            </a:r>
            <a:pPr indent="0" marL="0">
              <a:buNone/>
            </a:pPr>
            <a:r>
              <a:rPr lang="en-US" sz="3200" b="1" dirty="0">
                <a:solidFill>
                  <a:srgbClr val="1F6E47"/>
                </a:solidFill>
              </a:rPr>
              <a:t>  →  </a:t>
            </a:r>
            <a:pPr indent="0" marL="0">
              <a:buNone/>
            </a:pPr>
            <a:r>
              <a:rPr lang="en-US" sz="4800" b="1" dirty="0">
                <a:solidFill>
                  <a:srgbClr val="1F6E47"/>
                </a:solidFill>
              </a:rPr>
              <a:t>0.429</a:t>
            </a:r>
            <a:endParaRPr lang="en-US" sz="3200" dirty="0"/>
          </a:p>
        </p:txBody>
      </p:sp>
      <p:sp>
        <p:nvSpPr>
          <p:cNvPr id="25" name="Text 18"/>
          <p:cNvSpPr/>
          <p:nvPr/>
        </p:nvSpPr>
        <p:spPr>
          <a:xfrm>
            <a:off x="14813280" y="10607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1F6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15× improvement</a:t>
            </a:r>
            <a:endParaRPr lang="en-US" sz="2800" dirty="0"/>
          </a:p>
        </p:txBody>
      </p:sp>
      <p:sp>
        <p:nvSpPr>
          <p:cNvPr id="26" name="Shape 19"/>
          <p:cNvSpPr/>
          <p:nvPr/>
        </p:nvSpPr>
        <p:spPr>
          <a:xfrm>
            <a:off x="21945600" y="9189720"/>
            <a:ext cx="7315200" cy="1874520"/>
          </a:xfrm>
          <a:prstGeom prst="rect">
            <a:avLst/>
          </a:prstGeom>
          <a:solidFill>
            <a:srgbClr val="FFFFFF"/>
          </a:solidFill>
          <a:ln w="31750">
            <a:solidFill>
              <a:srgbClr val="1E5BA8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21945600" y="9189720"/>
            <a:ext cx="164592" cy="1874520"/>
          </a:xfrm>
          <a:prstGeom prst="rect">
            <a:avLst/>
          </a:prstGeom>
          <a:solidFill>
            <a:srgbClr val="1E5BA8"/>
          </a:solidFill>
          <a:ln w="12700">
            <a:solidFill>
              <a:srgbClr val="1E5BA8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22311360" y="9235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Hit@50</a:t>
            </a:r>
            <a:endParaRPr lang="en-US" sz="2800" dirty="0"/>
          </a:p>
        </p:txBody>
      </p:sp>
      <p:sp>
        <p:nvSpPr>
          <p:cNvPr id="29" name="Text 22"/>
          <p:cNvSpPr/>
          <p:nvPr/>
        </p:nvSpPr>
        <p:spPr>
          <a:xfrm>
            <a:off x="22311360" y="96926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55555"/>
                </a:solidFill>
              </a:rPr>
              <a:t>0.400</a:t>
            </a:r>
            <a:pPr indent="0" marL="0">
              <a:buNone/>
            </a:pPr>
            <a:r>
              <a:rPr lang="en-US" sz="3200" b="1" dirty="0">
                <a:solidFill>
                  <a:srgbClr val="1E5BA8"/>
                </a:solidFill>
              </a:rPr>
              <a:t>  →  </a:t>
            </a:r>
            <a:pPr indent="0" marL="0">
              <a:buNone/>
            </a:pPr>
            <a:r>
              <a:rPr lang="en-US" sz="4800" b="1" dirty="0">
                <a:solidFill>
                  <a:srgbClr val="1E5BA8"/>
                </a:solidFill>
              </a:rPr>
              <a:t>0.657</a:t>
            </a:r>
            <a:endParaRPr lang="en-US" sz="3200" dirty="0"/>
          </a:p>
        </p:txBody>
      </p:sp>
      <p:sp>
        <p:nvSpPr>
          <p:cNvPr id="30" name="Text 23"/>
          <p:cNvSpPr/>
          <p:nvPr/>
        </p:nvSpPr>
        <p:spPr>
          <a:xfrm>
            <a:off x="22311360" y="10607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1E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+64% lift</a:t>
            </a:r>
            <a:endParaRPr lang="en-US" sz="2800" dirty="0"/>
          </a:p>
        </p:txBody>
      </p:sp>
      <p:sp>
        <p:nvSpPr>
          <p:cNvPr id="31" name="Shape 24"/>
          <p:cNvSpPr/>
          <p:nvPr/>
        </p:nvSpPr>
        <p:spPr>
          <a:xfrm>
            <a:off x="29443680" y="9189720"/>
            <a:ext cx="7315200" cy="1874520"/>
          </a:xfrm>
          <a:prstGeom prst="rect">
            <a:avLst/>
          </a:prstGeom>
          <a:solidFill>
            <a:srgbClr val="FFFFFF"/>
          </a:solidFill>
          <a:ln w="31750">
            <a:solidFill>
              <a:srgbClr val="D9621E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29443680" y="9189720"/>
            <a:ext cx="164592" cy="1874520"/>
          </a:xfrm>
          <a:prstGeom prst="rect">
            <a:avLst/>
          </a:prstGeom>
          <a:solidFill>
            <a:srgbClr val="D9621E"/>
          </a:solidFill>
          <a:ln w="12700">
            <a:solidFill>
              <a:srgbClr val="D9621E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29809440" y="9235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MRR</a:t>
            </a:r>
            <a:endParaRPr lang="en-US" sz="2800" dirty="0"/>
          </a:p>
        </p:txBody>
      </p:sp>
      <p:sp>
        <p:nvSpPr>
          <p:cNvPr id="34" name="Text 27"/>
          <p:cNvSpPr/>
          <p:nvPr/>
        </p:nvSpPr>
        <p:spPr>
          <a:xfrm>
            <a:off x="29809440" y="96926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55555"/>
                </a:solidFill>
              </a:rPr>
              <a:t>0.049</a:t>
            </a:r>
            <a:pPr indent="0" marL="0">
              <a:buNone/>
            </a:pPr>
            <a:r>
              <a:rPr lang="en-US" sz="3200" b="1" dirty="0">
                <a:solidFill>
                  <a:srgbClr val="D9621E"/>
                </a:solidFill>
              </a:rPr>
              <a:t>  →  </a:t>
            </a:r>
            <a:pPr indent="0" marL="0">
              <a:buNone/>
            </a:pPr>
            <a:r>
              <a:rPr lang="en-US" sz="4800" b="1" dirty="0">
                <a:solidFill>
                  <a:srgbClr val="D9621E"/>
                </a:solidFill>
              </a:rPr>
              <a:t>0.209</a:t>
            </a:r>
            <a:endParaRPr lang="en-US" sz="3200" dirty="0"/>
          </a:p>
        </p:txBody>
      </p:sp>
      <p:sp>
        <p:nvSpPr>
          <p:cNvPr id="35" name="Text 28"/>
          <p:cNvSpPr/>
          <p:nvPr/>
        </p:nvSpPr>
        <p:spPr>
          <a:xfrm>
            <a:off x="29809440" y="10607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96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4× improvement</a:t>
            </a:r>
            <a:endParaRPr lang="en-US" sz="2800" dirty="0"/>
          </a:p>
        </p:txBody>
      </p:sp>
      <p:sp>
        <p:nvSpPr>
          <p:cNvPr id="36" name="Shape 29"/>
          <p:cNvSpPr/>
          <p:nvPr/>
        </p:nvSpPr>
        <p:spPr>
          <a:xfrm>
            <a:off x="365760" y="12435840"/>
            <a:ext cx="15544800" cy="8412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E47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365760" y="12435840"/>
            <a:ext cx="15544800" cy="960120"/>
          </a:xfrm>
          <a:prstGeom prst="rect">
            <a:avLst/>
          </a:prstGeom>
          <a:solidFill>
            <a:srgbClr val="1F6E47"/>
          </a:solidFill>
          <a:ln w="12700">
            <a:solidFill>
              <a:srgbClr val="1F6E47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2637008"/>
            <a:ext cx="548640" cy="5486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325880" y="12435840"/>
            <a:ext cx="1444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AND MENTORS</a:t>
            </a:r>
            <a:endParaRPr lang="en-US" sz="3200" dirty="0"/>
          </a:p>
        </p:txBody>
      </p:sp>
      <p:sp>
        <p:nvSpPr>
          <p:cNvPr id="40" name="Text 32"/>
          <p:cNvSpPr/>
          <p:nvPr/>
        </p:nvSpPr>
        <p:spPr>
          <a:xfrm>
            <a:off x="731520" y="13533120"/>
            <a:ext cx="14813280" cy="717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F6E47"/>
                </a:solidFill>
              </a:rPr>
              <a:t>Client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F1F1F"/>
                </a:solidFill>
              </a:rPr>
              <a:t>Eben English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800" i="1" dirty="0">
                <a:solidFill>
                  <a:srgbClr val="555555"/>
                </a:solidFill>
              </a:rPr>
              <a:t>Boston Public Library  ·  Digital Commonwealth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F6E47"/>
                </a:solidFill>
              </a:rPr>
              <a:t>Project Managers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1F1F1F"/>
                </a:solidFill>
              </a:rPr>
              <a:t>Ryan Rodriguez </a:t>
            </a:r>
            <a:pPr indent="0" marL="0">
              <a:spcAft>
                <a:spcPts val="400"/>
              </a:spcAft>
              <a:buNone/>
            </a:pPr>
            <a:r>
              <a:rPr lang="en-US" sz="2800" i="1" dirty="0">
                <a:solidFill>
                  <a:srgbClr val="555555"/>
                </a:solidFill>
              </a:rPr>
              <a:t>(PM)        ·        </a:t>
            </a:r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1F1F1F"/>
                </a:solidFill>
              </a:rPr>
              <a:t>Shinu Shibu </a:t>
            </a:r>
            <a:pPr indent="0" marL="0">
              <a:spcAft>
                <a:spcPts val="400"/>
              </a:spcAft>
              <a:buNone/>
            </a:pPr>
            <a:r>
              <a:rPr lang="en-US" sz="2800" i="1" dirty="0">
                <a:solidFill>
                  <a:srgbClr val="555555"/>
                </a:solidFill>
              </a:rPr>
              <a:t>(TPM)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F6E47"/>
                </a:solidFill>
              </a:rPr>
              <a:t>Team — BU Spark! Spring 2026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1F1F1F"/>
                </a:solidFill>
              </a:rPr>
              <a:t>Hanna S. Tadesse        ·        Vivinia Cai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1F1F1F"/>
                </a:solidFill>
              </a:rPr>
              <a:t>Manaswi Yadamreddy        ·        Haozhe (Jimmy) Jia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F6E47"/>
                </a:solidFill>
              </a:rPr>
              <a:t>Partner: </a:t>
            </a:r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1F1F1F"/>
                </a:solidFill>
              </a:rPr>
              <a:t>BU Spark!  ·  Boston University</a:t>
            </a:r>
            <a:endParaRPr lang="en-US" sz="3200" dirty="0"/>
          </a:p>
        </p:txBody>
      </p:sp>
      <p:sp>
        <p:nvSpPr>
          <p:cNvPr id="41" name="Shape 33"/>
          <p:cNvSpPr/>
          <p:nvPr/>
        </p:nvSpPr>
        <p:spPr>
          <a:xfrm>
            <a:off x="16093440" y="12435840"/>
            <a:ext cx="21003768" cy="8412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BA8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16093440" y="12435840"/>
            <a:ext cx="21003768" cy="960120"/>
          </a:xfrm>
          <a:prstGeom prst="rect">
            <a:avLst/>
          </a:prstGeom>
          <a:solidFill>
            <a:srgbClr val="1E5BA8"/>
          </a:solidFill>
          <a:ln w="12700">
            <a:solidFill>
              <a:srgbClr val="1E5BA8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67760" y="12637008"/>
            <a:ext cx="548640" cy="54864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7053560" y="12435840"/>
            <a:ext cx="19906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3200" dirty="0"/>
          </a:p>
        </p:txBody>
      </p:sp>
      <p:sp>
        <p:nvSpPr>
          <p:cNvPr id="45" name="Shape 36"/>
          <p:cNvSpPr/>
          <p:nvPr/>
        </p:nvSpPr>
        <p:spPr>
          <a:xfrm>
            <a:off x="16459200" y="13578840"/>
            <a:ext cx="20272248" cy="1417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16459200" y="13578840"/>
            <a:ext cx="228600" cy="14173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16779240" y="13670280"/>
            <a:ext cx="19952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D4A24C"/>
                </a:solidFill>
              </a:rPr>
              <a:t>KEY INSIGHT   </a:t>
            </a:r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Hybrid + Full-Text + GraphRAG retrieves the gold-standard document in </a:t>
            </a:r>
            <a:pPr indent="0" marL="0">
              <a:buNone/>
            </a:pPr>
            <a:r>
              <a:rPr lang="en-US" sz="2800" b="1" dirty="0">
                <a:solidFill>
                  <a:srgbClr val="D4A24C"/>
                </a:solidFill>
              </a:rPr>
              <a:t>57% of all queries</a:t>
            </a:r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 (Hit@50, n=51) — vs.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39%</a:t>
            </a:r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 for the Fall 2025 metadata baseline.</a:t>
            </a:r>
            <a:endParaRPr lang="en-US" sz="2800" dirty="0"/>
          </a:p>
        </p:txBody>
      </p:sp>
      <p:sp>
        <p:nvSpPr>
          <p:cNvPr id="48" name="Text 39"/>
          <p:cNvSpPr/>
          <p:nvPr/>
        </p:nvSpPr>
        <p:spPr>
          <a:xfrm>
            <a:off x="16459200" y="15179040"/>
            <a:ext cx="20272248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800" dirty="0">
                <a:solidFill>
                  <a:srgbClr val="1F1F1F"/>
                </a:solidFill>
              </a:rPr>
              <a:t>First full-text search integration in project history — OCR newspaper content now indexed and searchable.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800" dirty="0">
                <a:solidFill>
                  <a:srgbClr val="1F1F1F"/>
                </a:solidFill>
              </a:rPr>
              <a:t>End-to-end Hybrid + GraphRAG pipeline with cited GPT-4o answers and structured query logs.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800" dirty="0">
                <a:solidFill>
                  <a:srgbClr val="1F1F1F"/>
                </a:solidFill>
              </a:rPr>
              <a:t>Multi-page Streamlit app deployed on Hugging Face — search, document detail, and query history.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800" b="1" dirty="0">
                <a:solidFill>
                  <a:srgbClr val="D9621E"/>
                </a:solidFill>
              </a:rPr>
              <a:t>Next: scale corpus from current subset to the full 1.5M-page collection, add a cross-encoder reranker, and extend to images via CLIP / SigLIP.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62968" cy="1828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0"/>
            <a:ext cx="37462968" cy="128016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tmp/bpl_poster/logos/bpl_system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20040"/>
            <a:ext cx="502920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0" y="201168"/>
            <a:ext cx="2468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BPL-LIBRAG: Natural Language Search over a 15-Year Digital Archive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852160" y="1051560"/>
            <a:ext cx="2468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 ·  System Architecture, Methods &amp; Reflections</a:t>
            </a:r>
            <a:endParaRPr lang="en-US" sz="2800" dirty="0"/>
          </a:p>
        </p:txBody>
      </p:sp>
      <p:pic>
        <p:nvPicPr>
          <p:cNvPr id="8" name="Image 1" descr="/tmp/bpl_poster/logos/bu_spark_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815280" y="274320"/>
            <a:ext cx="1371600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369760" y="2743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SPARK!</a:t>
            </a:r>
            <a:endParaRPr lang="en-US" sz="3600" dirty="0"/>
          </a:p>
        </p:txBody>
      </p:sp>
      <p:sp>
        <p:nvSpPr>
          <p:cNvPr id="10" name="Shape 6"/>
          <p:cNvSpPr/>
          <p:nvPr/>
        </p:nvSpPr>
        <p:spPr>
          <a:xfrm>
            <a:off x="365760" y="2286000"/>
            <a:ext cx="36731448" cy="1188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65760" y="2286000"/>
            <a:ext cx="36731448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87168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2286000"/>
            <a:ext cx="35634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 ·  HOW BPL-LIBRAG WORKS</a:t>
            </a:r>
            <a:endParaRPr lang="en-US" sz="3200" dirty="0"/>
          </a:p>
        </p:txBody>
      </p:sp>
      <p:pic>
        <p:nvPicPr>
          <p:cNvPr id="14" name="Image 3" descr="/tmp/bpl_poster/architectur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1520" y="3383280"/>
            <a:ext cx="21122640" cy="10561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2311360" y="3383280"/>
            <a:ext cx="14420088" cy="1056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spc="300" kern="0" dirty="0">
                <a:solidFill>
                  <a:srgbClr val="0A2342"/>
                </a:solidFill>
              </a:rPr>
              <a:t>HOW TO READ THIS DIAGRAM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E5BA8"/>
                </a:solidFill>
              </a:rPr>
              <a:t>OFFLINE PIPELINE  (top row, 1–6)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OCR documents  →  Dense + Sparse indexing (BGE-M3)  →  Entity graph construction  →  Hybrid retrieval  →  Cited GPT-4o generation  →  Response with sources.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E5BA8"/>
                </a:solidFill>
              </a:rPr>
              <a:t>STORAGE LAYER  (middle band)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PostgreSQL + pgvector holds documents, chunks, and query logs (with embeddings + sparse vectors). Neo4j holds the entity graph linked back to documents via MENTIONS / CO_OCCURS_WITH edges.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F6E47"/>
                </a:solidFill>
              </a:rPr>
              <a:t>ONLINE QUERY FLOW  (lower row, 1–5)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User query  →  GPT-4o intent + filter extraction  →  Hybrid retrieval (Dense + Sparse fused via RRF, then metadata-reranked)  →  optional GraphRAG entity expansion  →  cited summary  →  log every step for evaluation.</a:t>
            </a:r>
            <a:endParaRPr lang="en-US" sz="2800" dirty="0"/>
          </a:p>
        </p:txBody>
      </p:sp>
      <p:sp>
        <p:nvSpPr>
          <p:cNvPr id="16" name="Shape 10"/>
          <p:cNvSpPr/>
          <p:nvPr/>
        </p:nvSpPr>
        <p:spPr>
          <a:xfrm>
            <a:off x="365760" y="14447520"/>
            <a:ext cx="18228564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E3A87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65760" y="14447520"/>
            <a:ext cx="18228564" cy="960120"/>
          </a:xfrm>
          <a:prstGeom prst="rect">
            <a:avLst/>
          </a:prstGeom>
          <a:solidFill>
            <a:srgbClr val="5E3A87"/>
          </a:solidFill>
          <a:ln w="12700">
            <a:solidFill>
              <a:srgbClr val="5E3A8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4648688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880" y="14447520"/>
            <a:ext cx="171312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/ TECH STACK</a:t>
            </a:r>
            <a:endParaRPr lang="en-US" sz="3200" dirty="0"/>
          </a:p>
        </p:txBody>
      </p:sp>
      <p:sp>
        <p:nvSpPr>
          <p:cNvPr id="20" name="Text 13"/>
          <p:cNvSpPr/>
          <p:nvPr/>
        </p:nvSpPr>
        <p:spPr>
          <a:xfrm>
            <a:off x="731520" y="15590520"/>
            <a:ext cx="17497044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5E3A87"/>
                </a:solidFill>
              </a:rPr>
              <a:t>Embeddings  </a:t>
            </a:r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BGE-M3 dense + sparse (1024-d, single forward pass)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5E3A87"/>
                </a:solidFill>
              </a:rPr>
              <a:t>Vector Store  </a:t>
            </a:r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PostgreSQL  +  pgvector  (HNSW ANN over dense + sparse)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5E3A87"/>
                </a:solidFill>
              </a:rPr>
              <a:t>Hybrid Retrieval  </a:t>
            </a:r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Dense ANN + Sparse lexical, fused via Reciprocal Rank Fusion + metadata rerank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5E3A87"/>
                </a:solidFill>
              </a:rPr>
              <a:t>Graph RAG  </a:t>
            </a:r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Neo4j  ·  spaCy NER  ·  2-hop CO_OCCURS_WITH traversal for entity expansion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5E3A87"/>
                </a:solidFill>
              </a:rPr>
              <a:t>Query &amp; Generation  </a:t>
            </a:r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GPT-4o intent classifier + cited summary writer with [1][2][3] inline source markers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5E3A87"/>
                </a:solidFill>
              </a:rPr>
              <a:t>Interface  </a:t>
            </a:r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Multi-page Streamlit app  ·  deployed on Hugging Face Spaces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5E3A87"/>
                </a:solidFill>
              </a:rPr>
              <a:t>Evaluation  </a:t>
            </a:r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51 gold-standard queries  ·  MRR / Hit@K / Recall@K / Precision@K  (K = 10, 30, 50)</a:t>
            </a:r>
            <a:endParaRPr lang="en-US" sz="3000" dirty="0"/>
          </a:p>
        </p:txBody>
      </p:sp>
      <p:sp>
        <p:nvSpPr>
          <p:cNvPr id="21" name="Shape 14"/>
          <p:cNvSpPr/>
          <p:nvPr/>
        </p:nvSpPr>
        <p:spPr>
          <a:xfrm>
            <a:off x="18868644" y="14447520"/>
            <a:ext cx="18228564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621E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18868644" y="14447520"/>
            <a:ext cx="18228564" cy="960120"/>
          </a:xfrm>
          <a:prstGeom prst="rect">
            <a:avLst/>
          </a:prstGeom>
          <a:solidFill>
            <a:srgbClr val="D9621E"/>
          </a:solidFill>
          <a:ln w="12700">
            <a:solidFill>
              <a:srgbClr val="D9621E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42964" y="14648688"/>
            <a:ext cx="548640" cy="5486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9828764" y="14447520"/>
            <a:ext cx="171312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REFLECTIONS — WHAT WE LEARNED</a:t>
            </a:r>
            <a:endParaRPr lang="en-US" sz="3200" dirty="0"/>
          </a:p>
        </p:txBody>
      </p:sp>
      <p:sp>
        <p:nvSpPr>
          <p:cNvPr id="25" name="Text 17"/>
          <p:cNvSpPr/>
          <p:nvPr/>
        </p:nvSpPr>
        <p:spPr>
          <a:xfrm>
            <a:off x="19234404" y="15590520"/>
            <a:ext cx="17497044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D9621E"/>
                </a:solidFill>
              </a:rPr>
              <a:t>A RAG pipeline is a chain</a:t>
            </a:r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 — every model swap meant rebuilding indexes, retuning fusion weights, and re-running the full evaluation from scratch. Plan for re-runs, not one-shots.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D9621E"/>
                </a:solidFill>
              </a:rPr>
              <a:t>Historical OCR is hard for embedding models</a:t>
            </a:r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 — sparse output, broken tokens, and 19th-century vocabulary all hurt dense recall. Sparse retrieval is what saved us on noisy text.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D9621E"/>
                </a:solidFill>
              </a:rPr>
              <a:t>Hybrid &gt; either alone</a:t>
            </a:r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 — dense + sparse fusion materially outperformed either component, especially on metadata-heavy queries: Hit@50 jumped 0.400 → 0.657.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D9621E"/>
                </a:solidFill>
              </a:rPr>
              <a:t>Evaluation comes first, not last</a:t>
            </a:r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 — without a real test set and a harness, every change is a guess. The harness is now the single source of truth for the team.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D9621E"/>
                </a:solidFill>
              </a:rPr>
              <a:t>Citations build trust</a:t>
            </a:r>
            <a:pPr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1F1F1F"/>
                </a:solidFill>
              </a:rPr>
              <a:t> — librarians and researchers won't accept ungrounded LLM output. Inline [1][2][3] markers + source links were table-stakes for adoption.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BPL-LIBRAG — BU Spark! Spring 2026</dc:title>
  <dc:subject>PptxGenJS Presentation</dc:subject>
  <dc:creator>BU Spark! Spring 2026</dc:creator>
  <cp:lastModifiedBy>BU Spark! Spring 2026</cp:lastModifiedBy>
  <cp:revision>1</cp:revision>
  <dcterms:created xsi:type="dcterms:W3CDTF">2026-04-26T17:54:27Z</dcterms:created>
  <dcterms:modified xsi:type="dcterms:W3CDTF">2026-04-26T17:54:27Z</dcterms:modified>
</cp:coreProperties>
</file>